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99B00"/>
                </a:solidFill>
                <a:latin typeface="Calibri"/>
              </a:defRPr>
            </a:pPr>
            <a:r>
              <a:t>GELDIUM FINTECH LENDING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Credit Card Delinquency Risk Management Brief</a:t>
            </a:r>
          </a:p>
          <a:p>
            <a:pPr>
              <a:spcAft>
                <a:spcPts val="4800"/>
              </a:spcAft>
              <a:defRPr sz="1600">
                <a:solidFill>
                  <a:srgbClr val="5C768D"/>
                </a:solidFill>
                <a:latin typeface="Calibri"/>
              </a:defRPr>
            </a:pPr>
            <a:r>
              <a:t>Data-Driven Insights, Predictive Modeling, &amp; Early Intervention Strategies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Prepared by: Credit Risk Analytics Group  |  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Calibri"/>
              </a:defRPr>
            </a:pPr>
            <a:r>
              <a:t>The Delinquency Challenge at Geldium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Context &amp; Financial Pain Points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Portfolio Delinquency is at an elevated 21.72%, representing a direct threat to capital reserves and cash flows.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Traditional collections are reactive, contacting users only after they have already missed payments and entered delinquent cycles.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Write-offs are accelerating, degrading loan yields and investor confidence in Geldium's credit underwriting.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Frictionless credit card usage has led to subprime segments over-extending, needing systematic early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3952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Operational Objective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Shift from Reactive to Proactive: Flag at-risk credit accounts 60 to 90 days before actual write-off occurs.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Automate Credit Line Adjustments: Deploy real-time credit limit reductions on accounts showing active distress signals.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Build Tailored Intervention Programs: Deploy SMS and in-app prompts for restructuring or debt consolidation loans.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Establish Metric-Driven Risk Tolerance: Set target balance between default avoidance (Recall) and user growth (Precision).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Calibri"/>
              </a:defRPr>
            </a:pPr>
            <a:r>
              <a:t>Analytical Approach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Data Preparation &amp; Preprocessing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Customer Dataset: 2,500 active accounts including demographic, credit history, and current debt statistics.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Real-World Noise: Handled missing value indicators in Annual Income (2.0%) and Credit Score (2.5%) via median imputation.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Outlier Remediation: Capped anomalous incomes (&gt; $500k) at the 99th percentile and corrected system-error FICO scores (9999).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Feature Engineering: Created Debt-to-Income (DTI) ratio, log-transformed annual income, and one-hot encoded employment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3952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Predictive Modeling Process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Model Selection: Trained a Logistic Regression baseline (highly interpretable) and an XGBoost model (production champion).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Validation Framework: Utilized a 70/30 train-test split, stratified by delinquency flag to ensure consistent class distributions.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Evaluation Strategy: Prioritized ROC-AUC and Recall (sensitivity) to identify maximum defaults, using SHAP for XGBoost interpretability.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Execution Pipeline: Packaged modular scripts for data loading, preprocessing, model fitting, and automated metrics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Calibri"/>
              </a:defRPr>
            </a:pPr>
            <a:r>
              <a:t>Top 3 Delinquency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Key Behavioral Insight Summary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1. Credit Card Utilization Ratio (+0.66 correlation):</a:t>
            </a:r>
            <a:br/>
            <a:r>
              <a:t>   Customers using &gt; 70% of credit limit represent 4.2x higher delinquency risk. Highly predictive of cash flow stress.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2. Historic Late Payments (+0.58 correlation):</a:t>
            </a:r>
            <a:br/>
            <a:r>
              <a:t>   Clean accounts show &lt; 2.5% default rate. A single late payment increases risk to 28%; 3+ late payments jump defaults to &gt; 85%.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3. Low FICO &amp; High DTI Ratio (-0.56 FICO correlation):</a:t>
            </a:r>
            <a:br/>
            <a:r>
              <a:t>   A FICO score &lt; 580 coupled with a non-mortgage Debt-to-Income (DTI) ratio &gt; 30% indicates severe over-indebtedness.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011680"/>
            <a:ext cx="4297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Key Statistic Table</a:t>
            </a:r>
          </a:p>
          <a:p>
            <a:pPr>
              <a:spcAft>
                <a:spcPts val="600"/>
              </a:spcAft>
              <a:defRPr sz="1400" b="1">
                <a:solidFill>
                  <a:srgbClr val="D99B00"/>
                </a:solidFill>
                <a:latin typeface="Calibri"/>
              </a:defRPr>
            </a:pPr>
            <a:r>
              <a:t>Delinquent Account Metrics: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- Median FICO Score: 580 (vs. 660 for Current)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- Median Utilization Ratio: 82% (vs. 34% for Current)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- Mean Late Payments: 2.1 (vs. 0.2 for Current)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- Average Total Debt: $24,500 (vs. $11,200 for Current)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Calibri"/>
              </a:defRPr>
            </a:pPr>
            <a:r>
              <a:t>Model Plan: Interpretability vs.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Proposed Framework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Baseline: Logistic Regression</a:t>
            </a:r>
            <a:br/>
            <a:r>
              <a:t>- Establishes interpretable risk coefficients.</a:t>
            </a:r>
            <a:br/>
            <a:r>
              <a:t>- Highly transparent, compliant with credit regulations.</a:t>
            </a:r>
            <a:br/>
            <a:r>
              <a:t>- Good for linear patterns, weak for interaction boundaries.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Production Champion: XGBoost</a:t>
            </a:r>
            <a:br/>
            <a:r>
              <a:t>- Superior predictive capacity (higher ROC-AUC).</a:t>
            </a:r>
            <a:br/>
            <a:r>
              <a:t>- Captures non-linear boundaries (e.g. high utilization and low FICO).</a:t>
            </a:r>
            <a:br/>
            <a:r>
              <a:t>- Interpreted in production using SHAP value explanations.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3952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Why Recall is Prioritized Over Accuracy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Asymmetric Decision Costs:</a:t>
            </a:r>
            <a:br/>
            <a:r>
              <a:t>- A False Negative (missing a default) leads to capital write-offs of the principal (averaging $5,000+ per borrower).</a:t>
            </a:r>
            <a:br/>
            <a:r>
              <a:t>- A False Positive (unneeded flag) causes minor friction or temporary card block (estimated at $150 in lost lifetime value).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Cost Ratio: The cost of a False Negative is 30x higher.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Accuracy Masking: Standard accuracy flags current accounts but misses defaults. Maximizing Recall ensures we capture 85%+ of default exposure, reducing write-off losses.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Calibri"/>
              </a:defRPr>
            </a:pPr>
            <a:r>
              <a:t>Action Plan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Operational Interventions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Dynamic Credit Limits: Automatically decrease credit limits or freeze balance increases for accounts showing FICO drop and &gt;75% utilization.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Proactive outreach: Launch automated SMS and email campaigns instantly when a customer registers their first 30-day late payment.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Consolidation Loans: Offer high-risk but cooperative revolving-balance users lower-interest term loans to restructure their debt.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3952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Projected Capital Impact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Reduce Default Loss: Target credit card defaults are projected to drop by 15% to 20% within the first 12 months.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Capital Preservation: Saves an estimated $3.2 Million in credit write-offs and collection costs annually.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Operating Margin Boost: Net lending operating margin is projected to expand by 1.8% to 2.5%.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Customer Retention: Early restructuring options retain cooperative customers who would have otherwise fully defaulted.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Steps, Risks, &amp; Model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99B00"/>
                </a:solidFill>
                <a:latin typeface="Calibri"/>
              </a:defRPr>
            </a:pPr>
            <a:r>
              <a:t>Risks &amp; Limitations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Macroeconomic Shifts: High inflation or interest rate spikes may alter borrower defaults, causing rapid data drift.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Regulatory Compliance: XGBoost decisions must be explainable under FCRA / ECOA regulations (mitigated via SHAP).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Implementation Friction: Tight integration between transaction databases and real-time model scoring is required.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Customer Backlash: Unwarranted credit limit caps (False Positives) can hurt user retention.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3952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99B00"/>
                </a:solidFill>
                <a:latin typeface="Calibri"/>
              </a:defRPr>
            </a:pPr>
            <a:r>
              <a:t>Implementation &amp; Maintenance Plan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Data Drift Tracking: Weekly Population Stability Index (PSI) reports to verify key feature distributions.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Performance Monitoring: Monthly check on model Recall; retrain immediately if Recall drops below 75%.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Scheduled Retraining: Establish a quarterly retraining cadence incorporating fresh customer credit behaviors.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Deployment Schedule:</a:t>
            </a:r>
            <a:br/>
            <a:r>
              <a:t>  - Weeks 1-2: Data pipeline integration &amp; unit testing</a:t>
            </a:r>
            <a:br/>
            <a:r>
              <a:t>  - Weeks 3-4: Shadow deployment in production</a:t>
            </a:r>
            <a:br/>
            <a:r>
              <a:t>  - Week 5: 10% traffic live pilot, scaling to 100% by week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